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8" r:id="rId6"/>
    <p:sldId id="267" r:id="rId7"/>
    <p:sldId id="269" r:id="rId8"/>
    <p:sldId id="270" r:id="rId9"/>
    <p:sldId id="259" r:id="rId10"/>
    <p:sldId id="261" r:id="rId11"/>
    <p:sldId id="262" r:id="rId12"/>
    <p:sldId id="263" r:id="rId13"/>
    <p:sldId id="272" r:id="rId14"/>
    <p:sldId id="271" r:id="rId15"/>
  </p:sldIdLst>
  <p:sldSz cx="12188825" cy="6858000"/>
  <p:notesSz cx="6858000" cy="9144000"/>
  <p:defaultTextStyle>
    <a:defPPr rtl="0">
      <a:defRPr lang="it-it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469" autoAdjust="0"/>
  </p:normalViewPr>
  <p:slideViewPr>
    <p:cSldViewPr>
      <p:cViewPr varScale="1">
        <p:scale>
          <a:sx n="73" d="100"/>
          <a:sy n="73" d="100"/>
        </p:scale>
        <p:origin x="364" y="3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750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221A1788-7372-4FAC-9AF0-00B54B8D9CBA}" type="datetime1">
              <a:rPr lang="it-IT" smtClean="0"/>
              <a:t>25/07/2025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it-IT" smtClean="0"/>
              <a:pPr algn="r"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943A304-85CD-4257-B418-D8F889FE0DBC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dirty="0"/>
              <a:t>Fare clic per modificare gli stili del testo dello schema</a:t>
            </a:r>
          </a:p>
          <a:p>
            <a:pPr lvl="1" rtl="0"/>
            <a:r>
              <a:rPr lang="it-IT" dirty="0"/>
              <a:t>Secondo livello</a:t>
            </a:r>
          </a:p>
          <a:p>
            <a:pPr lvl="2" rtl="0"/>
            <a:r>
              <a:rPr lang="it-IT" dirty="0"/>
              <a:t>Terzo livello</a:t>
            </a:r>
          </a:p>
          <a:p>
            <a:pPr lvl="3" rtl="0"/>
            <a:r>
              <a:rPr lang="it-IT" dirty="0"/>
              <a:t>Quarto livello</a:t>
            </a:r>
          </a:p>
          <a:p>
            <a:pPr lvl="4" rtl="0"/>
            <a:r>
              <a:rPr lang="it-IT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4624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87174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49218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18439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17727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EBA5BD7-F043-4D1B-AA17-CD412FC534DE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757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8408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2514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8706B-409C-137A-B241-A25DFE6D5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F8648BC-7033-5166-405A-8163F5EE2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1FB897-7D47-49EF-3DB5-A41E68541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B474EB-7D71-474C-70E1-DC96717CA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32001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it-IT" smtClean="0"/>
              <a:pPr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0381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i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nettore dirit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ttore dirit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ttore dirit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ee inferiori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igura a mano libera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it-IT" dirty="0"/>
            </a:p>
          </p:txBody>
        </p:sp>
        <p:sp>
          <p:nvSpPr>
            <p:cNvPr id="10" name="Figura a mano libera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it-IT" dirty="0"/>
            </a:p>
          </p:txBody>
        </p:sp>
        <p:sp>
          <p:nvSpPr>
            <p:cNvPr id="11" name="Figura a mano libera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it-IT" dirty="0"/>
            </a:p>
          </p:txBody>
        </p: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22" name="Segnaposto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889EF9B-A500-41B6-8F1C-893813E9A898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23" name="Segnaposto piè di pa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24" name="Segnaposto numero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81DC961-63CE-49AB-921E-1CE3DDEFC80A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C014DD1E-5D91-48A3-AD6D-45FBA980D10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i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nettore dirit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ttore dirit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ttore dirit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66F5F-3C86-4285-A86F-35EFBBDD7800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B9BE34E-14EC-4041-A597-EE22FC16794F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6FAD192-1BF7-4994-9CBA-74265F19F4C1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476DD40-7EBA-46D0-A855-62759524AC7A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2E4D95-88E1-4556-89BE-EC650C1D14A8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F9867D3-FC26-40B1-8BB9-B19FF8D6CD45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</p:txBody>
      </p:sp>
      <p:sp>
        <p:nvSpPr>
          <p:cNvPr id="3" name="Segnaposto immagine 2" descr="Segnaposto vuoto per aggiungere un'immagine. Fare clic sul segnaposto e selezionare l'immagine che si vuole aggiungere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it-IT"/>
              <a:t>Fare clic sull'icona per inserire un'immagine</a:t>
            </a:r>
            <a:endParaRPr lang="it-IT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B0EE21F-92EE-4289-AFFB-9252D957F459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E724BBD-5BEA-4971-A6C4-42E94AF7CB5F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F1B2188-7D8C-43C8-B29F-60D01DE77B72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ee a sinistr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igura a mano libera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dirty="0"/>
            </a:p>
          </p:txBody>
        </p:sp>
        <p:sp>
          <p:nvSpPr>
            <p:cNvPr id="11" name="Figura a mano libera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dirty="0"/>
            </a:p>
          </p:txBody>
        </p:sp>
        <p:sp>
          <p:nvSpPr>
            <p:cNvPr id="14" name="Figura a mano libera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dirty="0"/>
            </a:p>
          </p:txBody>
        </p:sp>
      </p:grp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it-IT" dirty="0"/>
              <a:t>Fare clic per modificare gli stili del testo dello schema</a:t>
            </a:r>
          </a:p>
          <a:p>
            <a:pPr lvl="1" rtl="0"/>
            <a:r>
              <a:rPr lang="it-IT" dirty="0"/>
              <a:t>Secondo livello</a:t>
            </a:r>
          </a:p>
          <a:p>
            <a:pPr lvl="2" rtl="0"/>
            <a:r>
              <a:rPr lang="it-IT" dirty="0"/>
              <a:t>Terzo livello</a:t>
            </a:r>
          </a:p>
          <a:p>
            <a:pPr lvl="3" rtl="0"/>
            <a:r>
              <a:rPr lang="it-IT" dirty="0"/>
              <a:t>Quarto livello</a:t>
            </a:r>
          </a:p>
          <a:p>
            <a:pPr lvl="4" rtl="0"/>
            <a:r>
              <a:rPr lang="it-IT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56645-DD8C-4009-9A84-A4AD56EB55A9}" type="datetime1">
              <a:rPr lang="it-IT" smtClean="0"/>
              <a:pPr/>
              <a:t>25/07/2025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03357" y="1006053"/>
            <a:ext cx="8352927" cy="2520280"/>
          </a:xfrm>
        </p:spPr>
        <p:txBody>
          <a:bodyPr rtlCol="0"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COMPUTER VISION PROJECT: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Image processing in C</a:t>
            </a:r>
            <a:endParaRPr lang="it-IT" dirty="0">
              <a:solidFill>
                <a:schemeClr val="accent1"/>
              </a:solidFill>
            </a:endParaRPr>
          </a:p>
        </p:txBody>
      </p:sp>
      <p:sp>
        <p:nvSpPr>
          <p:cNvPr id="5" name="Sottotito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it-IT" dirty="0"/>
          </a:p>
          <a:p>
            <a:pPr rtl="0"/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C48D7E-7DC1-60DC-8874-0331A4BAAF44}"/>
              </a:ext>
            </a:extLst>
          </p:cNvPr>
          <p:cNvSpPr txBox="1"/>
          <p:nvPr/>
        </p:nvSpPr>
        <p:spPr>
          <a:xfrm>
            <a:off x="1640099" y="4077072"/>
            <a:ext cx="437119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 err="1">
                <a:solidFill>
                  <a:schemeClr val="accent1"/>
                </a:solidFill>
              </a:rPr>
              <a:t>Student</a:t>
            </a:r>
            <a:r>
              <a:rPr lang="it-IT" sz="2800" dirty="0">
                <a:solidFill>
                  <a:schemeClr val="accent1"/>
                </a:solidFill>
              </a:rPr>
              <a:t>: Pahaliah N’Guessan</a:t>
            </a:r>
          </a:p>
          <a:p>
            <a:r>
              <a:rPr lang="it-IT" sz="2800" dirty="0">
                <a:solidFill>
                  <a:schemeClr val="accent1"/>
                </a:solidFill>
              </a:rPr>
              <a:t>Matricola:564858</a:t>
            </a:r>
          </a:p>
          <a:p>
            <a:r>
              <a:rPr lang="it-IT" sz="2800" dirty="0">
                <a:solidFill>
                  <a:schemeClr val="accent1"/>
                </a:solidFill>
              </a:rPr>
              <a:t>A.Y. 2024/25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7127161-BC89-AB93-488B-0BE4F9C4E6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saturation sat="17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00000" y="360000"/>
            <a:ext cx="1393200" cy="1796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2"/>
          <p:cNvSpPr>
            <a:spLocks noGrp="1"/>
          </p:cNvSpPr>
          <p:nvPr>
            <p:ph type="title"/>
          </p:nvPr>
        </p:nvSpPr>
        <p:spPr>
          <a:xfrm>
            <a:off x="4258208" y="437601"/>
            <a:ext cx="3672408" cy="1223963"/>
          </a:xfrm>
        </p:spPr>
        <p:txBody>
          <a:bodyPr rtlCol="0">
            <a:normAutofit/>
          </a:bodyPr>
          <a:lstStyle/>
          <a:p>
            <a:r>
              <a:rPr lang="it-IT" sz="4000" dirty="0">
                <a:solidFill>
                  <a:schemeClr val="accent1"/>
                </a:solidFill>
              </a:rPr>
              <a:t>PROJECT GOALS</a:t>
            </a:r>
          </a:p>
        </p:txBody>
      </p:sp>
      <p:sp>
        <p:nvSpPr>
          <p:cNvPr id="14" name="Segnaposto contenuto 13"/>
          <p:cNvSpPr>
            <a:spLocks noGrp="1"/>
          </p:cNvSpPr>
          <p:nvPr>
            <p:ph idx="1"/>
          </p:nvPr>
        </p:nvSpPr>
        <p:spPr>
          <a:xfrm>
            <a:off x="1218883" y="2492896"/>
            <a:ext cx="10360501" cy="3455395"/>
          </a:xfrm>
        </p:spPr>
        <p:txBody>
          <a:bodyPr rtlCol="0"/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Arial"/>
              </a:rPr>
              <a:t>• Command-line tool for `.ppm` image processing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Arial"/>
              </a:rPr>
              <a:t>• Techniques: morphological filters, edge detection, circle detection, binarization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  <a:latin typeface="Arial"/>
              </a:rPr>
              <a:t>• Each filter triggered by a CLI flag (e.g. -gray, -</a:t>
            </a:r>
            <a:r>
              <a:rPr lang="en-US" sz="3200" dirty="0" err="1">
                <a:solidFill>
                  <a:schemeClr val="accent1"/>
                </a:solidFill>
                <a:latin typeface="Arial"/>
              </a:rPr>
              <a:t>sobel</a:t>
            </a:r>
            <a:r>
              <a:rPr lang="en-US" sz="3200" dirty="0">
                <a:solidFill>
                  <a:schemeClr val="accent1"/>
                </a:solidFill>
                <a:latin typeface="Arial"/>
              </a:rPr>
              <a:t>, -</a:t>
            </a:r>
            <a:r>
              <a:rPr lang="en-US" sz="3200" dirty="0" err="1">
                <a:solidFill>
                  <a:schemeClr val="accent1"/>
                </a:solidFill>
                <a:latin typeface="Arial"/>
              </a:rPr>
              <a:t>hough</a:t>
            </a:r>
            <a:r>
              <a:rPr lang="en-US" sz="3200" dirty="0">
                <a:solidFill>
                  <a:schemeClr val="accent1"/>
                </a:solidFill>
                <a:latin typeface="Arial"/>
              </a:rPr>
              <a:t>...)</a:t>
            </a:r>
          </a:p>
          <a:p>
            <a:pPr marL="0" indent="0" rtl="0">
              <a:buNone/>
            </a:pPr>
            <a:endParaRPr lang="it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A060B50-877C-18D4-45D0-1E7494BB5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2281" cy="1792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3237348" y="312227"/>
            <a:ext cx="5714128" cy="718672"/>
          </a:xfrm>
        </p:spPr>
        <p:txBody>
          <a:bodyPr rtlCol="0">
            <a:normAutofit/>
          </a:bodyPr>
          <a:lstStyle/>
          <a:p>
            <a:pPr rtl="0"/>
            <a:r>
              <a:rPr lang="it-IT" sz="4000" dirty="0">
                <a:solidFill>
                  <a:schemeClr val="accent1"/>
                </a:solidFill>
              </a:rPr>
              <a:t>PROGRAM STRUCTURE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5F5A291-FE6C-443C-BD1D-6816D3139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2281" cy="1792800"/>
          </a:xfrm>
          <a:prstGeom prst="rect">
            <a:avLst/>
          </a:prstGeom>
          <a:noFill/>
        </p:spPr>
      </p:pic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D6FEE75-F6F8-B86E-4983-4E7F93BB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it-IT" sz="3200" dirty="0" err="1">
                <a:solidFill>
                  <a:schemeClr val="accent1"/>
                </a:solidFill>
              </a:rPr>
              <a:t>main.c</a:t>
            </a:r>
            <a:r>
              <a:rPr lang="it-IT" sz="3200" dirty="0">
                <a:solidFill>
                  <a:schemeClr val="accent1"/>
                </a:solidFill>
              </a:rPr>
              <a:t>   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</a:t>
            </a:r>
            <a:r>
              <a:rPr lang="it-IT" sz="3200" dirty="0">
                <a:solidFill>
                  <a:schemeClr val="accent1"/>
                </a:solidFill>
              </a:rPr>
              <a:t> </a:t>
            </a:r>
            <a:r>
              <a:rPr lang="it-IT" sz="3200" dirty="0" err="1">
                <a:solidFill>
                  <a:schemeClr val="accent1"/>
                </a:solidFill>
              </a:rPr>
              <a:t>exectution</a:t>
            </a:r>
            <a:r>
              <a:rPr lang="it-IT" sz="3200" dirty="0">
                <a:solidFill>
                  <a:schemeClr val="accent1"/>
                </a:solidFill>
              </a:rPr>
              <a:t>  </a:t>
            </a:r>
            <a:r>
              <a:rPr lang="it-IT" sz="3200" dirty="0" err="1">
                <a:solidFill>
                  <a:schemeClr val="accent1"/>
                </a:solidFill>
              </a:rPr>
              <a:t>function</a:t>
            </a:r>
            <a:r>
              <a:rPr lang="it-IT" sz="3200" dirty="0">
                <a:solidFill>
                  <a:schemeClr val="accent1"/>
                </a:solidFill>
              </a:rPr>
              <a:t> </a:t>
            </a:r>
            <a:r>
              <a:rPr lang="it-IT" sz="3200" dirty="0" err="1">
                <a:solidFill>
                  <a:schemeClr val="accent1"/>
                </a:solidFill>
              </a:rPr>
              <a:t>based</a:t>
            </a:r>
            <a:r>
              <a:rPr lang="it-IT" sz="3200" dirty="0">
                <a:solidFill>
                  <a:schemeClr val="accent1"/>
                </a:solidFill>
              </a:rPr>
              <a:t> on input 		      	    	    </a:t>
            </a:r>
            <a:r>
              <a:rPr lang="it-IT" sz="3200" dirty="0" err="1">
                <a:solidFill>
                  <a:schemeClr val="accent1"/>
                </a:solidFill>
              </a:rPr>
              <a:t>parameters</a:t>
            </a:r>
            <a:endParaRPr lang="it-IT" sz="3200" dirty="0">
              <a:solidFill>
                <a:schemeClr val="accent1"/>
              </a:solidFill>
            </a:endParaRPr>
          </a:p>
          <a:p>
            <a:pPr marL="457200" indent="-457200"/>
            <a:r>
              <a:rPr lang="it-IT" sz="3200" dirty="0" err="1">
                <a:solidFill>
                  <a:schemeClr val="accent1"/>
                </a:solidFill>
              </a:rPr>
              <a:t>image.c</a:t>
            </a:r>
            <a:r>
              <a:rPr lang="it-IT" sz="3200" dirty="0">
                <a:solidFill>
                  <a:schemeClr val="accent1"/>
                </a:solidFill>
              </a:rPr>
              <a:t> 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it-IT" sz="3200" dirty="0" err="1">
                <a:solidFill>
                  <a:schemeClr val="accent1"/>
                </a:solidFill>
              </a:rPr>
              <a:t>loadPPM</a:t>
            </a:r>
            <a:r>
              <a:rPr lang="it-IT" sz="3200" dirty="0">
                <a:solidFill>
                  <a:schemeClr val="accent1"/>
                </a:solidFill>
              </a:rPr>
              <a:t>, </a:t>
            </a:r>
            <a:r>
              <a:rPr lang="it-IT" sz="3200" dirty="0" err="1">
                <a:solidFill>
                  <a:schemeClr val="accent1"/>
                </a:solidFill>
              </a:rPr>
              <a:t>saveTransformation</a:t>
            </a:r>
            <a:r>
              <a:rPr lang="it-IT" sz="3200" dirty="0">
                <a:solidFill>
                  <a:schemeClr val="accent1"/>
                </a:solidFill>
              </a:rPr>
              <a:t>, </a:t>
            </a:r>
            <a:r>
              <a:rPr lang="it-IT" sz="3200" dirty="0" err="1">
                <a:solidFill>
                  <a:schemeClr val="accent1"/>
                </a:solidFill>
              </a:rPr>
              <a:t>savePPM</a:t>
            </a:r>
            <a:r>
              <a:rPr lang="it-IT" sz="3200" dirty="0">
                <a:solidFill>
                  <a:schemeClr val="accent1"/>
                </a:solidFill>
              </a:rPr>
              <a:t> 		             (Image </a:t>
            </a:r>
            <a:r>
              <a:rPr lang="it-IT" sz="3200" dirty="0" err="1">
                <a:solidFill>
                  <a:schemeClr val="accent1"/>
                </a:solidFill>
              </a:rPr>
              <a:t>struct</a:t>
            </a:r>
            <a:r>
              <a:rPr lang="it-IT" sz="3200" dirty="0">
                <a:solidFill>
                  <a:schemeClr val="accent1"/>
                </a:solidFill>
              </a:rPr>
              <a:t>)</a:t>
            </a:r>
          </a:p>
          <a:p>
            <a:pPr marL="457200" indent="-457200"/>
            <a:r>
              <a:rPr lang="it-IT" sz="3200" dirty="0" err="1">
                <a:solidFill>
                  <a:schemeClr val="accent1"/>
                </a:solidFill>
              </a:rPr>
              <a:t>filters.c</a:t>
            </a:r>
            <a:r>
              <a:rPr lang="it-IT" sz="3200" dirty="0">
                <a:solidFill>
                  <a:schemeClr val="accent1"/>
                </a:solidFill>
              </a:rPr>
              <a:t>  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toGrayscale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,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toBinary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,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sobelEdgeDetection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,  		             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morphology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 (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erosion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,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dilation,opening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,                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closing,top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hat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, bottom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hat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)</a:t>
            </a:r>
            <a:endParaRPr lang="it-IT" sz="3200" dirty="0">
              <a:solidFill>
                <a:schemeClr val="accent1"/>
              </a:solidFill>
            </a:endParaRPr>
          </a:p>
          <a:p>
            <a:pPr marL="457200" indent="-457200"/>
            <a:r>
              <a:rPr lang="it-IT" sz="3200" dirty="0" err="1">
                <a:solidFill>
                  <a:schemeClr val="accent1"/>
                </a:solidFill>
              </a:rPr>
              <a:t>hough.c</a:t>
            </a:r>
            <a:r>
              <a:rPr lang="it-IT" sz="3200" dirty="0">
                <a:solidFill>
                  <a:schemeClr val="accent1"/>
                </a:solidFill>
              </a:rPr>
              <a:t> </a:t>
            </a:r>
            <a:r>
              <a:rPr lang="it-IT" sz="3200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it-IT" sz="3200" dirty="0" err="1">
                <a:solidFill>
                  <a:schemeClr val="accent1"/>
                </a:solidFill>
                <a:sym typeface="Wingdings" panose="05000000000000000000" pitchFamily="2" charset="2"/>
              </a:rPr>
              <a:t>houghCircleDetection</a:t>
            </a:r>
            <a:endParaRPr lang="it-IT" sz="32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998068" y="243387"/>
            <a:ext cx="5883641" cy="688406"/>
          </a:xfrm>
        </p:spPr>
        <p:txBody>
          <a:bodyPr rtlCol="0">
            <a:normAutofit/>
          </a:bodyPr>
          <a:lstStyle/>
          <a:p>
            <a:r>
              <a:rPr lang="it-IT" sz="4000" dirty="0">
                <a:solidFill>
                  <a:schemeClr val="accent1"/>
                </a:solidFill>
              </a:rPr>
              <a:t>HOUGH CIRCLE DETECTION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9E73586-8150-9BE6-844A-A35A14406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2281" cy="1792800"/>
          </a:xfrm>
          <a:prstGeom prst="rect">
            <a:avLst/>
          </a:prstGeom>
          <a:noFill/>
        </p:spPr>
      </p:pic>
      <p:sp useBgFill="1">
        <p:nvSpPr>
          <p:cNvPr id="10" name="Connettore 9">
            <a:extLst>
              <a:ext uri="{FF2B5EF4-FFF2-40B4-BE49-F238E27FC236}">
                <a16:creationId xmlns:a16="http://schemas.microsoft.com/office/drawing/2014/main" id="{CC5FD19B-C015-A397-DD9F-7D8942C4CC37}"/>
              </a:ext>
            </a:extLst>
          </p:cNvPr>
          <p:cNvSpPr/>
          <p:nvPr/>
        </p:nvSpPr>
        <p:spPr>
          <a:xfrm>
            <a:off x="2615435" y="2780928"/>
            <a:ext cx="2592288" cy="25202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/>
          </a:p>
        </p:txBody>
      </p:sp>
      <p:sp useBgFill="1">
        <p:nvSpPr>
          <p:cNvPr id="11" name="Connettore 10">
            <a:extLst>
              <a:ext uri="{FF2B5EF4-FFF2-40B4-BE49-F238E27FC236}">
                <a16:creationId xmlns:a16="http://schemas.microsoft.com/office/drawing/2014/main" id="{29F153F1-F2F4-DA0E-F056-202955C2EB38}"/>
              </a:ext>
            </a:extLst>
          </p:cNvPr>
          <p:cNvSpPr/>
          <p:nvPr/>
        </p:nvSpPr>
        <p:spPr>
          <a:xfrm>
            <a:off x="3732274" y="3047403"/>
            <a:ext cx="1368151" cy="122413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/>
          </a:p>
        </p:txBody>
      </p:sp>
      <p:sp>
        <p:nvSpPr>
          <p:cNvPr id="12" name="Connettore 11">
            <a:extLst>
              <a:ext uri="{FF2B5EF4-FFF2-40B4-BE49-F238E27FC236}">
                <a16:creationId xmlns:a16="http://schemas.microsoft.com/office/drawing/2014/main" id="{060C684B-02B7-DD94-A120-ACD8BEAA8A50}"/>
              </a:ext>
            </a:extLst>
          </p:cNvPr>
          <p:cNvSpPr/>
          <p:nvPr/>
        </p:nvSpPr>
        <p:spPr>
          <a:xfrm flipH="1">
            <a:off x="3915500" y="4039466"/>
            <a:ext cx="140863" cy="164051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/>
          </a:p>
        </p:txBody>
      </p:sp>
      <p:sp>
        <p:nvSpPr>
          <p:cNvPr id="13" name="Connettore 12">
            <a:extLst>
              <a:ext uri="{FF2B5EF4-FFF2-40B4-BE49-F238E27FC236}">
                <a16:creationId xmlns:a16="http://schemas.microsoft.com/office/drawing/2014/main" id="{F79F79DB-3E54-76B4-5087-C214E9C1F891}"/>
              </a:ext>
            </a:extLst>
          </p:cNvPr>
          <p:cNvSpPr/>
          <p:nvPr/>
        </p:nvSpPr>
        <p:spPr>
          <a:xfrm>
            <a:off x="4844821" y="3151112"/>
            <a:ext cx="144016" cy="13577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/>
          </a:p>
        </p:txBody>
      </p:sp>
      <p:sp>
        <p:nvSpPr>
          <p:cNvPr id="14" name="Connettore 13">
            <a:extLst>
              <a:ext uri="{FF2B5EF4-FFF2-40B4-BE49-F238E27FC236}">
                <a16:creationId xmlns:a16="http://schemas.microsoft.com/office/drawing/2014/main" id="{D2D7634D-FFD2-AC70-7C34-C2CDFD0CBEEB}"/>
              </a:ext>
            </a:extLst>
          </p:cNvPr>
          <p:cNvSpPr/>
          <p:nvPr/>
        </p:nvSpPr>
        <p:spPr>
          <a:xfrm>
            <a:off x="4344341" y="3659471"/>
            <a:ext cx="144016" cy="144016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/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52990A97-EDF8-80EE-5A85-F5F720B5AD04}"/>
              </a:ext>
            </a:extLst>
          </p:cNvPr>
          <p:cNvCxnSpPr>
            <a:cxnSpLocks/>
            <a:stCxn id="12" idx="0"/>
            <a:endCxn id="13" idx="3"/>
          </p:cNvCxnSpPr>
          <p:nvPr/>
        </p:nvCxnSpPr>
        <p:spPr>
          <a:xfrm flipV="1">
            <a:off x="3985931" y="3267005"/>
            <a:ext cx="879981" cy="7724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28FF7E81-D957-4913-5EB7-61B7851684A0}"/>
              </a:ext>
            </a:extLst>
          </p:cNvPr>
          <p:cNvCxnSpPr>
            <a:cxnSpLocks/>
            <a:stCxn id="13" idx="6"/>
            <a:endCxn id="14" idx="4"/>
          </p:cNvCxnSpPr>
          <p:nvPr/>
        </p:nvCxnSpPr>
        <p:spPr>
          <a:xfrm flipH="1">
            <a:off x="4416349" y="3219001"/>
            <a:ext cx="572488" cy="5844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8327D99-3E1B-4617-8A32-FF280E3C4DAA}"/>
              </a:ext>
            </a:extLst>
          </p:cNvPr>
          <p:cNvSpPr txBox="1"/>
          <p:nvPr/>
        </p:nvSpPr>
        <p:spPr>
          <a:xfrm flipH="1">
            <a:off x="3949113" y="3473312"/>
            <a:ext cx="360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accent1"/>
                </a:solidFill>
              </a:rPr>
              <a:t>R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035AC63-DABA-E72B-5241-6746D2E926AC}"/>
              </a:ext>
            </a:extLst>
          </p:cNvPr>
          <p:cNvSpPr txBox="1"/>
          <p:nvPr/>
        </p:nvSpPr>
        <p:spPr>
          <a:xfrm>
            <a:off x="4707604" y="3412533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accent1"/>
                </a:solidFill>
              </a:rPr>
              <a:t>r</a:t>
            </a:r>
          </a:p>
        </p:txBody>
      </p:sp>
      <p:sp>
        <p:nvSpPr>
          <p:cNvPr id="23" name="Freccia circolare a sinistra 22">
            <a:extLst>
              <a:ext uri="{FF2B5EF4-FFF2-40B4-BE49-F238E27FC236}">
                <a16:creationId xmlns:a16="http://schemas.microsoft.com/office/drawing/2014/main" id="{98A69121-E391-3ECA-7B4E-7B6CE7158874}"/>
              </a:ext>
            </a:extLst>
          </p:cNvPr>
          <p:cNvSpPr/>
          <p:nvPr/>
        </p:nvSpPr>
        <p:spPr>
          <a:xfrm rot="19573841">
            <a:off x="5387477" y="1835839"/>
            <a:ext cx="1368151" cy="242312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>
              <a:solidFill>
                <a:schemeClr val="tx1"/>
              </a:solidFill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884FB54-11D1-DED2-15B9-EFCF503A62F6}"/>
              </a:ext>
            </a:extLst>
          </p:cNvPr>
          <p:cNvSpPr txBox="1"/>
          <p:nvPr/>
        </p:nvSpPr>
        <p:spPr>
          <a:xfrm>
            <a:off x="7082378" y="2211076"/>
            <a:ext cx="854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360°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BE8056D6-288E-5E3D-03A9-BFEA9564F6CB}"/>
              </a:ext>
            </a:extLst>
          </p:cNvPr>
          <p:cNvSpPr/>
          <p:nvPr/>
        </p:nvSpPr>
        <p:spPr>
          <a:xfrm>
            <a:off x="1625126" y="1777640"/>
            <a:ext cx="7493622" cy="4051693"/>
          </a:xfrm>
          <a:prstGeom prst="rect">
            <a:avLst/>
          </a:prstGeom>
          <a:noFill/>
          <a:ln w="6032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133972" y="260648"/>
            <a:ext cx="6926060" cy="1223963"/>
          </a:xfrm>
        </p:spPr>
        <p:txBody>
          <a:bodyPr rtlCol="0">
            <a:normAutofit/>
          </a:bodyPr>
          <a:lstStyle/>
          <a:p>
            <a:r>
              <a:rPr lang="it-IT" sz="4000" dirty="0">
                <a:solidFill>
                  <a:schemeClr val="accent1"/>
                </a:solidFill>
              </a:rPr>
              <a:t>MORPHOLOGICAL FILTERS :                              ERODE &amp; DILATE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84D91C3-8B46-3CD9-8723-58AAE4186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2281" cy="1792800"/>
          </a:xfrm>
          <a:prstGeom prst="rect">
            <a:avLst/>
          </a:prstGeom>
          <a:noFill/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C99A56B-D894-90C6-3B49-FB2157746BE7}"/>
              </a:ext>
            </a:extLst>
          </p:cNvPr>
          <p:cNvSpPr txBox="1"/>
          <p:nvPr/>
        </p:nvSpPr>
        <p:spPr>
          <a:xfrm>
            <a:off x="1701924" y="2420888"/>
            <a:ext cx="59046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• Erode (-erode): Shrinks white objects, useful for removing noise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• Dilate (-dilate): Expands white objects, useful for closing holes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• Can be combined for complex operations (e.g., opening, closing)</a:t>
            </a:r>
            <a:endParaRPr lang="it-IT" sz="3200" dirty="0">
              <a:solidFill>
                <a:schemeClr val="accent1"/>
              </a:solidFill>
            </a:endParaRPr>
          </a:p>
        </p:txBody>
      </p:sp>
      <p:pic>
        <p:nvPicPr>
          <p:cNvPr id="10" name="Immagine 9" descr="Immagine che contiene Carattere, Elementi grafici, simbolo, bianco&#10;&#10;Il contenuto generato dall'IA potrebbe non essere corretto.">
            <a:extLst>
              <a:ext uri="{FF2B5EF4-FFF2-40B4-BE49-F238E27FC236}">
                <a16:creationId xmlns:a16="http://schemas.microsoft.com/office/drawing/2014/main" id="{48E6BE45-3C38-6B3E-555D-D28204557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620" y="3068960"/>
            <a:ext cx="3439294" cy="216024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effectLst/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title"/>
          </p:nvPr>
        </p:nvSpPr>
        <p:spPr>
          <a:xfrm>
            <a:off x="4438227" y="188640"/>
            <a:ext cx="3312368" cy="688629"/>
          </a:xfrm>
        </p:spPr>
        <p:txBody>
          <a:bodyPr rtlCol="0">
            <a:normAutofit/>
          </a:bodyPr>
          <a:lstStyle/>
          <a:p>
            <a:r>
              <a:rPr lang="it-IT" sz="4000" dirty="0">
                <a:solidFill>
                  <a:schemeClr val="accent1"/>
                </a:solidFill>
              </a:rPr>
              <a:t>USE METHODS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7119526-CE01-B2AE-0228-4DC854851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0650" cy="1790700"/>
          </a:xfrm>
          <a:prstGeom prst="rect">
            <a:avLst/>
          </a:prstGeom>
          <a:noFill/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ED9817A-3DE1-1579-1ECB-AA8E5B4A87CF}"/>
              </a:ext>
            </a:extLst>
          </p:cNvPr>
          <p:cNvSpPr txBox="1"/>
          <p:nvPr/>
        </p:nvSpPr>
        <p:spPr>
          <a:xfrm>
            <a:off x="998768" y="1825970"/>
            <a:ext cx="2808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solidFill>
                  <a:schemeClr val="accent1"/>
                </a:solidFill>
              </a:rPr>
              <a:t>COMPILATION:</a:t>
            </a:r>
            <a:endParaRPr lang="it-IT" sz="3200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endParaRPr lang="it-IT" sz="2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0037E98-01FD-1A73-4549-08F2228B7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50" y="2448756"/>
            <a:ext cx="9155308" cy="26487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68B98EC-07D7-1316-D6A4-DE8CB107E776}"/>
              </a:ext>
            </a:extLst>
          </p:cNvPr>
          <p:cNvSpPr txBox="1"/>
          <p:nvPr/>
        </p:nvSpPr>
        <p:spPr>
          <a:xfrm>
            <a:off x="999333" y="2981213"/>
            <a:ext cx="22140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accent1"/>
                </a:solidFill>
              </a:rPr>
              <a:t>EXECUTION</a:t>
            </a:r>
            <a:r>
              <a:rPr lang="it-IT" sz="2800" dirty="0">
                <a:solidFill>
                  <a:schemeClr val="accent1"/>
                </a:solidFill>
              </a:rPr>
              <a:t>:</a:t>
            </a:r>
            <a:endParaRPr lang="it-IT" sz="2800" dirty="0">
              <a:solidFill>
                <a:schemeClr val="accent1"/>
              </a:solidFill>
              <a:sym typeface="Wingdings" panose="05000000000000000000" pitchFamily="2" charset="2"/>
            </a:endParaRPr>
          </a:p>
          <a:p>
            <a:endParaRPr lang="it-IT" sz="28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04AF32C-A888-74FD-1BC0-3EAD1FD8B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50" y="3742256"/>
            <a:ext cx="9155308" cy="27411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FD3E127-5BA7-F5F0-49C6-7EA42C0C9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951" y="4661236"/>
            <a:ext cx="4053657" cy="2751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EA5C154-9A4F-9314-0A7B-4AE8ADD92D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150" y="4207960"/>
            <a:ext cx="11197839" cy="246709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47FE85B-EDBD-161D-680C-A079DFE04F2D}"/>
              </a:ext>
            </a:extLst>
          </p:cNvPr>
          <p:cNvSpPr txBox="1"/>
          <p:nvPr/>
        </p:nvSpPr>
        <p:spPr>
          <a:xfrm>
            <a:off x="117748" y="5249092"/>
            <a:ext cx="32360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INPUT PARAMETERS: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3CB5A871-4353-996B-0B03-528CAD9F3B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9561" y="5375287"/>
            <a:ext cx="8602069" cy="27083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C6B0D94-3389-C137-E149-9681E3AC9D9D}"/>
              </a:ext>
            </a:extLst>
          </p:cNvPr>
          <p:cNvSpPr txBox="1"/>
          <p:nvPr/>
        </p:nvSpPr>
        <p:spPr>
          <a:xfrm>
            <a:off x="809576" y="6033374"/>
            <a:ext cx="425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chemeClr val="accent1"/>
                </a:solidFill>
              </a:rPr>
              <a:t>If</a:t>
            </a:r>
            <a:r>
              <a:rPr lang="it-IT" dirty="0">
                <a:solidFill>
                  <a:schemeClr val="accent1"/>
                </a:solidFill>
              </a:rPr>
              <a:t> 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58151944-B042-DF78-10D5-939B70FEE5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4393" y="6073628"/>
            <a:ext cx="921974" cy="339117"/>
          </a:xfrm>
          <a:prstGeom prst="rect">
            <a:avLst/>
          </a:prstGeom>
        </p:spPr>
      </p:pic>
      <p:sp useBgFill="1">
        <p:nvSpPr>
          <p:cNvPr id="16" name="CasellaDiTesto 15">
            <a:extLst>
              <a:ext uri="{FF2B5EF4-FFF2-40B4-BE49-F238E27FC236}">
                <a16:creationId xmlns:a16="http://schemas.microsoft.com/office/drawing/2014/main" id="{BF568855-684C-3B88-5E2A-E2600EE12854}"/>
              </a:ext>
            </a:extLst>
          </p:cNvPr>
          <p:cNvSpPr txBox="1"/>
          <p:nvPr/>
        </p:nvSpPr>
        <p:spPr>
          <a:xfrm>
            <a:off x="2124751" y="6008297"/>
            <a:ext cx="98743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chemeClr val="accent1"/>
                </a:solidFill>
              </a:rPr>
              <a:t>:</a:t>
            </a:r>
            <a:r>
              <a:rPr lang="it-IT" sz="2400" dirty="0" err="1">
                <a:solidFill>
                  <a:schemeClr val="accent1"/>
                </a:solidFill>
              </a:rPr>
              <a:t>specification</a:t>
            </a:r>
            <a:r>
              <a:rPr lang="it-IT" sz="2400" dirty="0">
                <a:solidFill>
                  <a:schemeClr val="accent1"/>
                </a:solidFill>
              </a:rPr>
              <a:t> of minimum, maximum </a:t>
            </a:r>
            <a:r>
              <a:rPr lang="it-IT" sz="2400" dirty="0" err="1">
                <a:solidFill>
                  <a:schemeClr val="accent1"/>
                </a:solidFill>
              </a:rPr>
              <a:t>radius</a:t>
            </a:r>
            <a:r>
              <a:rPr lang="it-IT" sz="2400" dirty="0">
                <a:solidFill>
                  <a:schemeClr val="accent1"/>
                </a:solidFill>
              </a:rPr>
              <a:t> for </a:t>
            </a:r>
            <a:r>
              <a:rPr lang="it-IT" sz="2400" dirty="0" err="1">
                <a:solidFill>
                  <a:schemeClr val="accent1"/>
                </a:solidFill>
              </a:rPr>
              <a:t>circle</a:t>
            </a:r>
            <a:r>
              <a:rPr lang="it-IT" sz="2400" dirty="0">
                <a:solidFill>
                  <a:schemeClr val="accent1"/>
                </a:solidFill>
              </a:rPr>
              <a:t> </a:t>
            </a:r>
            <a:r>
              <a:rPr lang="it-IT" sz="2400" dirty="0" err="1">
                <a:solidFill>
                  <a:schemeClr val="accent1"/>
                </a:solidFill>
              </a:rPr>
              <a:t>detection</a:t>
            </a:r>
            <a:r>
              <a:rPr lang="it-IT" sz="2400" dirty="0">
                <a:solidFill>
                  <a:schemeClr val="accent1"/>
                </a:solidFill>
              </a:rPr>
              <a:t> and </a:t>
            </a:r>
            <a:r>
              <a:rPr lang="it-IT" sz="2400" dirty="0" err="1">
                <a:solidFill>
                  <a:schemeClr val="accent1"/>
                </a:solidFill>
              </a:rPr>
              <a:t>threshold</a:t>
            </a:r>
            <a:r>
              <a:rPr lang="it-IT" sz="2400" dirty="0">
                <a:solidFill>
                  <a:schemeClr val="accent1"/>
                </a:solidFill>
              </a:rPr>
              <a:t> </a:t>
            </a:r>
            <a:endParaRPr lang="it-IT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3330024" y="175490"/>
            <a:ext cx="5120512" cy="719907"/>
          </a:xfrm>
        </p:spPr>
        <p:txBody>
          <a:bodyPr rtlCol="0">
            <a:normAutofit/>
          </a:bodyPr>
          <a:lstStyle/>
          <a:p>
            <a:pPr rtl="0"/>
            <a:r>
              <a:rPr lang="it-IT" sz="4000" dirty="0">
                <a:solidFill>
                  <a:schemeClr val="accent1"/>
                </a:solidFill>
              </a:rPr>
              <a:t>EXECUTION EXAMPLE 1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52137A4-E447-1F77-99EA-CB192C583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0650" cy="1790700"/>
          </a:xfrm>
          <a:prstGeom prst="rect">
            <a:avLst/>
          </a:prstGeom>
          <a:noFill/>
        </p:spPr>
      </p:pic>
      <p:pic>
        <p:nvPicPr>
          <p:cNvPr id="4" name="Immagine 3" descr="Immagine che contiene modello, quadrato, Policromia, Rettangolo&#10;&#10;Il contenuto generato dall'IA potrebbe non essere corretto.">
            <a:extLst>
              <a:ext uri="{FF2B5EF4-FFF2-40B4-BE49-F238E27FC236}">
                <a16:creationId xmlns:a16="http://schemas.microsoft.com/office/drawing/2014/main" id="{283026A1-A316-ABD3-AE6F-245A82D73A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369" y="1655399"/>
            <a:ext cx="2751826" cy="1790701"/>
          </a:xfrm>
          <a:prstGeom prst="rect">
            <a:avLst/>
          </a:prstGeom>
        </p:spPr>
      </p:pic>
      <p:pic>
        <p:nvPicPr>
          <p:cNvPr id="6" name="Immagine 5" descr="Immagine che contiene bianco, design&#10;&#10;Il contenuto generato dall'IA potrebbe non essere corretto.">
            <a:extLst>
              <a:ext uri="{FF2B5EF4-FFF2-40B4-BE49-F238E27FC236}">
                <a16:creationId xmlns:a16="http://schemas.microsoft.com/office/drawing/2014/main" id="{23C7C46A-6A05-5057-6D6C-9AD297405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13" y="4437112"/>
            <a:ext cx="2751828" cy="1790701"/>
          </a:xfrm>
          <a:prstGeom prst="rect">
            <a:avLst/>
          </a:prstGeom>
        </p:spPr>
      </p:pic>
      <p:pic>
        <p:nvPicPr>
          <p:cNvPr id="13" name="Immagine 12" descr="Immagine che contiene quadrato, modello, grigio, Simmetria&#10;&#10;Il contenuto generato dall'IA potrebbe non essere corretto.">
            <a:extLst>
              <a:ext uri="{FF2B5EF4-FFF2-40B4-BE49-F238E27FC236}">
                <a16:creationId xmlns:a16="http://schemas.microsoft.com/office/drawing/2014/main" id="{4FC03D03-401E-EA3B-3AD7-5CA69ACCA2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368" y="4437112"/>
            <a:ext cx="2751827" cy="1790701"/>
          </a:xfrm>
          <a:prstGeom prst="rect">
            <a:avLst/>
          </a:prstGeom>
        </p:spPr>
      </p:pic>
      <p:pic>
        <p:nvPicPr>
          <p:cNvPr id="15" name="Immagine 14" descr="Immagine che contiene quadrato, modello, Simmetria, linea&#10;&#10;Il contenuto generato dall'IA potrebbe non essere corretto.">
            <a:extLst>
              <a:ext uri="{FF2B5EF4-FFF2-40B4-BE49-F238E27FC236}">
                <a16:creationId xmlns:a16="http://schemas.microsoft.com/office/drawing/2014/main" id="{90E931AF-AF0B-E700-5A33-C2BF943895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733" y="4437112"/>
            <a:ext cx="2751828" cy="1776435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EB6755D-F3B8-7152-9E4E-893FF3C461C4}"/>
              </a:ext>
            </a:extLst>
          </p:cNvPr>
          <p:cNvSpPr txBox="1"/>
          <p:nvPr/>
        </p:nvSpPr>
        <p:spPr>
          <a:xfrm>
            <a:off x="5230316" y="1066867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4FB48E9-A179-A470-ACCA-5B9B76A67720}"/>
              </a:ext>
            </a:extLst>
          </p:cNvPr>
          <p:cNvSpPr txBox="1"/>
          <p:nvPr/>
        </p:nvSpPr>
        <p:spPr>
          <a:xfrm>
            <a:off x="1461964" y="3789040"/>
            <a:ext cx="1215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</a:t>
            </a:r>
            <a:r>
              <a:rPr lang="it-IT" sz="2800" dirty="0" err="1">
                <a:solidFill>
                  <a:schemeClr val="accent1"/>
                </a:solidFill>
              </a:rPr>
              <a:t>binary</a:t>
            </a:r>
            <a:endParaRPr lang="it-IT" sz="2800" dirty="0">
              <a:solidFill>
                <a:schemeClr val="accent1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C6DDFB3-C9F1-01E5-74F6-71A134549565}"/>
              </a:ext>
            </a:extLst>
          </p:cNvPr>
          <p:cNvSpPr txBox="1"/>
          <p:nvPr/>
        </p:nvSpPr>
        <p:spPr>
          <a:xfrm>
            <a:off x="5436278" y="3789040"/>
            <a:ext cx="908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-gray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3861D12-137B-9266-ABE0-11815A8D23AF}"/>
              </a:ext>
            </a:extLst>
          </p:cNvPr>
          <p:cNvSpPr txBox="1"/>
          <p:nvPr/>
        </p:nvSpPr>
        <p:spPr>
          <a:xfrm>
            <a:off x="9262764" y="3789040"/>
            <a:ext cx="1074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</a:t>
            </a:r>
            <a:r>
              <a:rPr lang="it-IT" sz="2800" dirty="0" err="1">
                <a:solidFill>
                  <a:schemeClr val="accent1"/>
                </a:solidFill>
              </a:rPr>
              <a:t>sobel</a:t>
            </a:r>
            <a:endParaRPr lang="it-IT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xfrm>
            <a:off x="3394112" y="252847"/>
            <a:ext cx="5400600" cy="719907"/>
          </a:xfrm>
        </p:spPr>
        <p:txBody>
          <a:bodyPr rtlCol="0">
            <a:normAutofit/>
          </a:bodyPr>
          <a:lstStyle/>
          <a:p>
            <a:pPr rtl="0"/>
            <a:r>
              <a:rPr lang="it-IT" sz="4000" dirty="0">
                <a:solidFill>
                  <a:schemeClr val="accent1"/>
                </a:solidFill>
              </a:rPr>
              <a:t>EXECUTION EXAMPLE 2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6218A7E-150E-D3B6-715D-256E2944F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0650" cy="1790700"/>
          </a:xfrm>
          <a:prstGeom prst="rect">
            <a:avLst/>
          </a:prstGeom>
          <a:noFill/>
        </p:spPr>
      </p:pic>
      <p:pic>
        <p:nvPicPr>
          <p:cNvPr id="5" name="Immagine 4" descr="Immagine che contiene linea, modello, bianco&#10;&#10;Il contenuto generato dall'IA potrebbe non essere corretto.">
            <a:extLst>
              <a:ext uri="{FF2B5EF4-FFF2-40B4-BE49-F238E27FC236}">
                <a16:creationId xmlns:a16="http://schemas.microsoft.com/office/drawing/2014/main" id="{A6707227-FC78-9610-9335-B58C0BEDA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12" y="4359488"/>
            <a:ext cx="2952328" cy="1914204"/>
          </a:xfrm>
          <a:prstGeom prst="rect">
            <a:avLst/>
          </a:prstGeom>
        </p:spPr>
      </p:pic>
      <p:pic>
        <p:nvPicPr>
          <p:cNvPr id="7" name="Immagine 6" descr="Immagine che contiene linea, Elementi grafici, cerchio, schermata&#10;&#10;Il contenuto generato dall'IA potrebbe non essere corretto.">
            <a:extLst>
              <a:ext uri="{FF2B5EF4-FFF2-40B4-BE49-F238E27FC236}">
                <a16:creationId xmlns:a16="http://schemas.microsoft.com/office/drawing/2014/main" id="{6F6A65E7-FDD5-EB49-E60A-AC0B3CA103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006" y="4369522"/>
            <a:ext cx="3399898" cy="1955857"/>
          </a:xfrm>
          <a:prstGeom prst="rect">
            <a:avLst/>
          </a:prstGeom>
        </p:spPr>
      </p:pic>
      <p:pic>
        <p:nvPicPr>
          <p:cNvPr id="9" name="Immagine 8" descr="Immagine che contiene linea, cerchio, schizzo, nero&#10;&#10;Il contenuto generato dall'IA potrebbe non essere corretto.">
            <a:extLst>
              <a:ext uri="{FF2B5EF4-FFF2-40B4-BE49-F238E27FC236}">
                <a16:creationId xmlns:a16="http://schemas.microsoft.com/office/drawing/2014/main" id="{673DC33F-6D7F-D473-2107-2074D1CE31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293" y="4359488"/>
            <a:ext cx="3240360" cy="1911445"/>
          </a:xfrm>
          <a:prstGeom prst="rect">
            <a:avLst/>
          </a:prstGeom>
        </p:spPr>
      </p:pic>
      <p:pic>
        <p:nvPicPr>
          <p:cNvPr id="11" name="Immagine 10" descr="Immagine che contiene Policromia, cerchio, Elementi grafici, linea&#10;&#10;Il contenuto generato dall'IA potrebbe non essere corretto.">
            <a:extLst>
              <a:ext uri="{FF2B5EF4-FFF2-40B4-BE49-F238E27FC236}">
                <a16:creationId xmlns:a16="http://schemas.microsoft.com/office/drawing/2014/main" id="{D18EACBA-8E80-95E4-69BE-4E9729BBE7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236" y="1689167"/>
            <a:ext cx="3399898" cy="195585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A280637-4A03-7ADC-4D74-F73025AE9CA7}"/>
              </a:ext>
            </a:extLst>
          </p:cNvPr>
          <p:cNvSpPr txBox="1"/>
          <p:nvPr/>
        </p:nvSpPr>
        <p:spPr>
          <a:xfrm>
            <a:off x="5660996" y="1111175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F5E5422-435C-DCDB-4678-98F2F76ADBDC}"/>
              </a:ext>
            </a:extLst>
          </p:cNvPr>
          <p:cNvSpPr txBox="1"/>
          <p:nvPr/>
        </p:nvSpPr>
        <p:spPr>
          <a:xfrm>
            <a:off x="1413892" y="3797566"/>
            <a:ext cx="1215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</a:t>
            </a:r>
            <a:r>
              <a:rPr lang="it-IT" sz="2800" dirty="0" err="1">
                <a:solidFill>
                  <a:schemeClr val="accent1"/>
                </a:solidFill>
              </a:rPr>
              <a:t>binary</a:t>
            </a:r>
            <a:endParaRPr lang="it-IT" sz="2800" dirty="0">
              <a:solidFill>
                <a:schemeClr val="accent1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D2D5786-3F90-1FB7-A2F6-FE9B765372D8}"/>
              </a:ext>
            </a:extLst>
          </p:cNvPr>
          <p:cNvSpPr txBox="1"/>
          <p:nvPr/>
        </p:nvSpPr>
        <p:spPr>
          <a:xfrm>
            <a:off x="5756182" y="3808967"/>
            <a:ext cx="908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-gray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800504-6971-1A0F-82D3-C171E5FF326E}"/>
              </a:ext>
            </a:extLst>
          </p:cNvPr>
          <p:cNvSpPr txBox="1"/>
          <p:nvPr/>
        </p:nvSpPr>
        <p:spPr>
          <a:xfrm>
            <a:off x="9701339" y="3797566"/>
            <a:ext cx="1074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</a:t>
            </a:r>
            <a:r>
              <a:rPr lang="it-IT" sz="2800" dirty="0" err="1">
                <a:solidFill>
                  <a:schemeClr val="accent1"/>
                </a:solidFill>
              </a:rPr>
              <a:t>sobel</a:t>
            </a:r>
            <a:endParaRPr lang="it-IT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4D04155-9F1B-FDB1-47F8-70D636342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0650" cy="1790700"/>
          </a:xfrm>
          <a:prstGeom prst="rect">
            <a:avLst/>
          </a:prstGeom>
          <a:noFill/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E8FADAA-C61B-0D18-F356-5F13122A9FD9}"/>
              </a:ext>
            </a:extLst>
          </p:cNvPr>
          <p:cNvSpPr txBox="1"/>
          <p:nvPr/>
        </p:nvSpPr>
        <p:spPr>
          <a:xfrm>
            <a:off x="3432435" y="231163"/>
            <a:ext cx="50726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solidFill>
                  <a:schemeClr val="accent1"/>
                </a:solidFill>
              </a:rPr>
              <a:t>EXECUTION EXAMPLE 2</a:t>
            </a:r>
          </a:p>
        </p:txBody>
      </p:sp>
      <p:pic>
        <p:nvPicPr>
          <p:cNvPr id="5" name="Immagine 4" descr="Immagine che contiene linea, Simmetria, Rettangolo, nero&#10;&#10;Il contenuto generato dall'IA potrebbe non essere corretto.">
            <a:extLst>
              <a:ext uri="{FF2B5EF4-FFF2-40B4-BE49-F238E27FC236}">
                <a16:creationId xmlns:a16="http://schemas.microsoft.com/office/drawing/2014/main" id="{047B7CE8-1851-59BA-9C9D-F993BD302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32" y="1916832"/>
            <a:ext cx="2391786" cy="1901694"/>
          </a:xfrm>
          <a:prstGeom prst="rect">
            <a:avLst/>
          </a:prstGeom>
        </p:spPr>
      </p:pic>
      <p:pic>
        <p:nvPicPr>
          <p:cNvPr id="7" name="Immagine 6" descr="Immagine che contiene schermata, bianco&#10;&#10;Il contenuto generato dall'IA potrebbe non essere corretto.">
            <a:extLst>
              <a:ext uri="{FF2B5EF4-FFF2-40B4-BE49-F238E27FC236}">
                <a16:creationId xmlns:a16="http://schemas.microsoft.com/office/drawing/2014/main" id="{58C48CF2-6CC9-F67B-2D12-9BBCFE6A1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878" y="1916832"/>
            <a:ext cx="2463794" cy="1901693"/>
          </a:xfrm>
          <a:prstGeom prst="rect">
            <a:avLst/>
          </a:prstGeom>
        </p:spPr>
      </p:pic>
      <p:pic>
        <p:nvPicPr>
          <p:cNvPr id="9" name="Immagine 8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2217AB94-00FD-EF02-D3D2-50E3405656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659" y="1916831"/>
            <a:ext cx="2391786" cy="1901693"/>
          </a:xfrm>
          <a:prstGeom prst="rect">
            <a:avLst/>
          </a:prstGeom>
        </p:spPr>
      </p:pic>
      <p:pic>
        <p:nvPicPr>
          <p:cNvPr id="11" name="Immagine 10" descr="Immagine che contiene schermata,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00BDC8EE-23AA-E60B-B483-16D5A38A4C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251" y="4725144"/>
            <a:ext cx="2337184" cy="1901693"/>
          </a:xfrm>
          <a:prstGeom prst="rect">
            <a:avLst/>
          </a:prstGeom>
        </p:spPr>
      </p:pic>
      <p:pic>
        <p:nvPicPr>
          <p:cNvPr id="13" name="Immagine 12" descr="Immagine che contiene Rettangolo, schermata, quadrato, portafotografie&#10;&#10;Il contenuto generato dall'IA potrebbe non essere corretto.">
            <a:extLst>
              <a:ext uri="{FF2B5EF4-FFF2-40B4-BE49-F238E27FC236}">
                <a16:creationId xmlns:a16="http://schemas.microsoft.com/office/drawing/2014/main" id="{D3764E64-1F47-DBC2-296D-17CAE3AF29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878" y="4725144"/>
            <a:ext cx="2463794" cy="1967499"/>
          </a:xfrm>
          <a:prstGeom prst="rect">
            <a:avLst/>
          </a:prstGeom>
        </p:spPr>
      </p:pic>
      <p:pic>
        <p:nvPicPr>
          <p:cNvPr id="15" name="Immagine 14" descr="Immagine che contiene schermata, nero, Rettangolo&#10;&#10;Il contenuto generato dall'IA potrebbe non essere corretto.">
            <a:extLst>
              <a:ext uri="{FF2B5EF4-FFF2-40B4-BE49-F238E27FC236}">
                <a16:creationId xmlns:a16="http://schemas.microsoft.com/office/drawing/2014/main" id="{A05966B4-C002-A535-98FC-706E51ECF0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660" y="4725144"/>
            <a:ext cx="2391786" cy="1919536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E2DE319-8D6F-F55C-D225-3CF42B39E6A9}"/>
              </a:ext>
            </a:extLst>
          </p:cNvPr>
          <p:cNvSpPr txBox="1"/>
          <p:nvPr/>
        </p:nvSpPr>
        <p:spPr>
          <a:xfrm>
            <a:off x="1685052" y="1406646"/>
            <a:ext cx="1148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-erode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695869F-B2E4-23FF-BE6C-71074C8EBCCE}"/>
              </a:ext>
            </a:extLst>
          </p:cNvPr>
          <p:cNvSpPr txBox="1"/>
          <p:nvPr/>
        </p:nvSpPr>
        <p:spPr>
          <a:xfrm>
            <a:off x="4934428" y="1401968"/>
            <a:ext cx="1110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</a:t>
            </a:r>
            <a:r>
              <a:rPr lang="it-IT" sz="2800" dirty="0" err="1">
                <a:solidFill>
                  <a:schemeClr val="accent1"/>
                </a:solidFill>
              </a:rPr>
              <a:t>dilate</a:t>
            </a:r>
            <a:endParaRPr lang="it-IT" sz="2800" dirty="0">
              <a:solidFill>
                <a:schemeClr val="accent1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015647A-E611-33C1-4C17-3D0453A32A14}"/>
              </a:ext>
            </a:extLst>
          </p:cNvPr>
          <p:cNvSpPr txBox="1"/>
          <p:nvPr/>
        </p:nvSpPr>
        <p:spPr>
          <a:xfrm>
            <a:off x="7883606" y="1393611"/>
            <a:ext cx="1479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-opening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A89B69F-49DE-5BE3-CA68-EAD49B571558}"/>
              </a:ext>
            </a:extLst>
          </p:cNvPr>
          <p:cNvSpPr txBox="1"/>
          <p:nvPr/>
        </p:nvSpPr>
        <p:spPr>
          <a:xfrm>
            <a:off x="1893684" y="4232019"/>
            <a:ext cx="790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-top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3F105FF-0805-0D17-FA2B-252FACD37198}"/>
              </a:ext>
            </a:extLst>
          </p:cNvPr>
          <p:cNvSpPr txBox="1"/>
          <p:nvPr/>
        </p:nvSpPr>
        <p:spPr>
          <a:xfrm>
            <a:off x="4914774" y="4232019"/>
            <a:ext cx="1298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-closing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2D20A84-940A-B497-88BF-C5CC8CEF5DCB}"/>
              </a:ext>
            </a:extLst>
          </p:cNvPr>
          <p:cNvSpPr txBox="1"/>
          <p:nvPr/>
        </p:nvSpPr>
        <p:spPr>
          <a:xfrm>
            <a:off x="7932786" y="4218994"/>
            <a:ext cx="1381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-bottom</a:t>
            </a: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551E22-FCA0-08D3-B46D-8033C97C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127C627-2085-D6D4-F4A6-57DF3B898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0650" cy="1790700"/>
          </a:xfrm>
          <a:prstGeom prst="rect">
            <a:avLst/>
          </a:prstGeom>
          <a:noFill/>
        </p:spPr>
      </p:pic>
      <p:pic>
        <p:nvPicPr>
          <p:cNvPr id="4" name="Immagine 3" descr="Immagine che contiene cerchi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E3A6B9A2-65BF-6F5C-82CD-E0C3E7F4C0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63" y="4005063"/>
            <a:ext cx="2736304" cy="2111515"/>
          </a:xfrm>
          <a:prstGeom prst="rect">
            <a:avLst/>
          </a:prstGeom>
        </p:spPr>
      </p:pic>
      <p:pic>
        <p:nvPicPr>
          <p:cNvPr id="6" name="Immagine 5" descr="Immagine che contiene cerchio, arte, Elementi grafici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7BD4A3AC-9D82-11D4-4861-B9478D8BC6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279" y="4005064"/>
            <a:ext cx="3024336" cy="2111515"/>
          </a:xfrm>
          <a:prstGeom prst="rect">
            <a:avLst/>
          </a:prstGeom>
        </p:spPr>
      </p:pic>
      <p:pic>
        <p:nvPicPr>
          <p:cNvPr id="8" name="Immagine 7" descr="Immagine che contiene nero, oscurità, spazio, notte&#10;&#10;Il contenuto generato dall'IA potrebbe non essere corretto.">
            <a:extLst>
              <a:ext uri="{FF2B5EF4-FFF2-40B4-BE49-F238E27FC236}">
                <a16:creationId xmlns:a16="http://schemas.microsoft.com/office/drawing/2014/main" id="{A235AA2E-D999-D2D7-C017-18BB217599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563" y="4005063"/>
            <a:ext cx="3240360" cy="2111515"/>
          </a:xfrm>
          <a:prstGeom prst="rect">
            <a:avLst/>
          </a:prstGeom>
        </p:spPr>
      </p:pic>
      <p:pic>
        <p:nvPicPr>
          <p:cNvPr id="10" name="Immagine 9" descr="Immagine che contiene cerchi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7AB99A3D-C232-6BD2-4680-CCFBEB5E26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901" y="1486678"/>
            <a:ext cx="2813093" cy="173983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C6ABF0D-6DB5-6DE5-B497-51F4CB22D851}"/>
              </a:ext>
            </a:extLst>
          </p:cNvPr>
          <p:cNvSpPr txBox="1"/>
          <p:nvPr/>
        </p:nvSpPr>
        <p:spPr>
          <a:xfrm>
            <a:off x="3222145" y="183960"/>
            <a:ext cx="50726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solidFill>
                  <a:schemeClr val="accent1"/>
                </a:solidFill>
              </a:rPr>
              <a:t>EXECUTION EXAMPLE 3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83E60B4-1F69-41A7-E406-BC132F837978}"/>
              </a:ext>
            </a:extLst>
          </p:cNvPr>
          <p:cNvSpPr txBox="1"/>
          <p:nvPr/>
        </p:nvSpPr>
        <p:spPr>
          <a:xfrm>
            <a:off x="5158308" y="891846"/>
            <a:ext cx="109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991ED76-9144-9244-AFFF-E6C89B2B543B}"/>
              </a:ext>
            </a:extLst>
          </p:cNvPr>
          <p:cNvSpPr txBox="1"/>
          <p:nvPr/>
        </p:nvSpPr>
        <p:spPr>
          <a:xfrm>
            <a:off x="1751512" y="3396667"/>
            <a:ext cx="908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-gray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C8537EC-A41F-7777-B7C9-C3BED2BC22A1}"/>
              </a:ext>
            </a:extLst>
          </p:cNvPr>
          <p:cNvSpPr txBox="1"/>
          <p:nvPr/>
        </p:nvSpPr>
        <p:spPr>
          <a:xfrm>
            <a:off x="5221280" y="3429000"/>
            <a:ext cx="1074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</a:t>
            </a:r>
            <a:r>
              <a:rPr lang="it-IT" sz="2800" dirty="0" err="1">
                <a:solidFill>
                  <a:schemeClr val="accent1"/>
                </a:solidFill>
              </a:rPr>
              <a:t>sobel</a:t>
            </a:r>
            <a:endParaRPr lang="it-IT" sz="2800" dirty="0">
              <a:solidFill>
                <a:schemeClr val="accent1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97904D6-A94B-48FA-F810-DE7156EC2D76}"/>
              </a:ext>
            </a:extLst>
          </p:cNvPr>
          <p:cNvSpPr txBox="1"/>
          <p:nvPr/>
        </p:nvSpPr>
        <p:spPr>
          <a:xfrm>
            <a:off x="8974732" y="3429000"/>
            <a:ext cx="1462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chemeClr val="accent1"/>
                </a:solidFill>
              </a:rPr>
              <a:t>-</a:t>
            </a:r>
            <a:r>
              <a:rPr lang="it-IT" sz="2800" dirty="0" err="1">
                <a:solidFill>
                  <a:schemeClr val="accent1"/>
                </a:solidFill>
              </a:rPr>
              <a:t>hough</a:t>
            </a:r>
            <a:endParaRPr lang="it-IT" sz="2800" dirty="0">
              <a:solidFill>
                <a:schemeClr val="accent1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923C12D-9C4D-1F0D-B7C6-E5F6AF58F6DF}"/>
              </a:ext>
            </a:extLst>
          </p:cNvPr>
          <p:cNvSpPr txBox="1"/>
          <p:nvPr/>
        </p:nvSpPr>
        <p:spPr>
          <a:xfrm>
            <a:off x="8590374" y="2053042"/>
            <a:ext cx="5283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0" dirty="0">
                <a:solidFill>
                  <a:schemeClr val="accent1"/>
                </a:solidFill>
              </a:rPr>
              <a:t>{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2B72289-47C8-CAD5-6FE1-CF956B5E6F7E}"/>
              </a:ext>
            </a:extLst>
          </p:cNvPr>
          <p:cNvSpPr txBox="1"/>
          <p:nvPr/>
        </p:nvSpPr>
        <p:spPr>
          <a:xfrm>
            <a:off x="9048741" y="2230511"/>
            <a:ext cx="17025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 err="1">
                <a:solidFill>
                  <a:schemeClr val="accent1"/>
                </a:solidFill>
              </a:rPr>
              <a:t>r_min</a:t>
            </a:r>
            <a:r>
              <a:rPr lang="it-IT" sz="2000" dirty="0">
                <a:solidFill>
                  <a:schemeClr val="accent1"/>
                </a:solidFill>
              </a:rPr>
              <a:t>=35</a:t>
            </a:r>
          </a:p>
          <a:p>
            <a:r>
              <a:rPr lang="it-IT" sz="2000" dirty="0" err="1">
                <a:solidFill>
                  <a:schemeClr val="accent1"/>
                </a:solidFill>
              </a:rPr>
              <a:t>r_max</a:t>
            </a:r>
            <a:r>
              <a:rPr lang="it-IT" sz="2000" dirty="0">
                <a:solidFill>
                  <a:schemeClr val="accent1"/>
                </a:solidFill>
              </a:rPr>
              <a:t>=60</a:t>
            </a:r>
          </a:p>
          <a:p>
            <a:r>
              <a:rPr lang="it-IT" sz="2000" dirty="0" err="1">
                <a:solidFill>
                  <a:schemeClr val="accent1"/>
                </a:solidFill>
              </a:rPr>
              <a:t>threshold</a:t>
            </a:r>
            <a:r>
              <a:rPr lang="it-IT" sz="2000" dirty="0">
                <a:solidFill>
                  <a:schemeClr val="accent1"/>
                </a:solidFill>
              </a:rPr>
              <a:t>=350</a:t>
            </a:r>
          </a:p>
        </p:txBody>
      </p:sp>
      <p:sp>
        <p:nvSpPr>
          <p:cNvPr id="19" name="Freccia curva 18">
            <a:extLst>
              <a:ext uri="{FF2B5EF4-FFF2-40B4-BE49-F238E27FC236}">
                <a16:creationId xmlns:a16="http://schemas.microsoft.com/office/drawing/2014/main" id="{0ADE4056-7061-4CC4-02EA-76EDFA2C3B2C}"/>
              </a:ext>
            </a:extLst>
          </p:cNvPr>
          <p:cNvSpPr/>
          <p:nvPr/>
        </p:nvSpPr>
        <p:spPr>
          <a:xfrm flipH="1">
            <a:off x="10750307" y="2777159"/>
            <a:ext cx="528374" cy="79208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34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60000"/>
                <a:lumOff val="4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464FDBA5-F507-0EF9-2708-8DEA976F0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000" y="360000"/>
            <a:ext cx="1390650" cy="1790700"/>
          </a:xfrm>
          <a:prstGeom prst="rect">
            <a:avLst/>
          </a:prstGeom>
          <a:noFill/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E841CBA-F6F0-DE26-E869-AF8973469351}"/>
              </a:ext>
            </a:extLst>
          </p:cNvPr>
          <p:cNvSpPr txBox="1"/>
          <p:nvPr/>
        </p:nvSpPr>
        <p:spPr>
          <a:xfrm>
            <a:off x="2998068" y="2636912"/>
            <a:ext cx="54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dirty="0">
                <a:solidFill>
                  <a:schemeClr val="accent1"/>
                </a:solidFill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37_TF02787990.potx" id="{498C47A6-4F7F-4A21-A47B-45258853BE3D}" vid="{26A642C0-B31C-44AA-8A27-2CBE4AFBB4A0}"/>
    </a:ext>
  </a:extLst>
</a:theme>
</file>

<file path=ppt/theme/theme2.xml><?xml version="1.0" encoding="utf-8"?>
<a:theme xmlns:a="http://schemas.openxmlformats.org/drawingml/2006/main" name="Tema di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con linee di circuito triple (widescreen)</Template>
  <TotalTime>181</TotalTime>
  <Words>287</Words>
  <Application>Microsoft Office PowerPoint</Application>
  <PresentationFormat>Personalizzato</PresentationFormat>
  <Paragraphs>65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Tecnologia 16x9</vt:lpstr>
      <vt:lpstr>COMPUTER VISION PROJECT:  Image processing in C</vt:lpstr>
      <vt:lpstr>PROJECT GOALS</vt:lpstr>
      <vt:lpstr>PROGRAM STRUCTURE</vt:lpstr>
      <vt:lpstr>HOUGH CIRCLE DETECTION</vt:lpstr>
      <vt:lpstr>MORPHOLOGICAL FILTERS :                              ERODE &amp; DILATE</vt:lpstr>
      <vt:lpstr>USE METHODS</vt:lpstr>
      <vt:lpstr>EXECUTION EXAMPLE 1</vt:lpstr>
      <vt:lpstr>EXECUTION EXAMPLE 2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Pahaliah N'Guessan</dc:creator>
  <cp:lastModifiedBy>Pahaliah N'Guessan</cp:lastModifiedBy>
  <cp:revision>2</cp:revision>
  <dcterms:created xsi:type="dcterms:W3CDTF">2025-07-24T20:46:14Z</dcterms:created>
  <dcterms:modified xsi:type="dcterms:W3CDTF">2025-07-24T23:58:42Z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